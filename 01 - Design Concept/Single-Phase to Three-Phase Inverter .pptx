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ebp" ContentType="image/webp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7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110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AD6F40-FA5B-3562-50DE-57DF1447EB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57508A7-DFB5-559A-74DC-3CFACED7D5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FB373E2-F967-4191-22FF-8D67006933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D1330-F66F-4BFB-872C-4BE289BD95E6}" type="datetimeFigureOut">
              <a:rPr lang="pt-BR" smtClean="0"/>
              <a:t>29/03/2026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12F38E8-FC68-C644-586C-9574A3A705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24E64D3-1227-C224-3DCE-FFEDC5F61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F9C90-F693-413D-BBC1-C75F940579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005682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C4533E-1665-41F3-23E2-05CD802D3D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FA50CE-7340-A45D-49B4-ADA63C9E91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DBAC2BF-08D1-7B47-DFFD-595FD7E0AA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D1330-F66F-4BFB-872C-4BE289BD95E6}" type="datetimeFigureOut">
              <a:rPr lang="pt-BR" smtClean="0"/>
              <a:t>29/03/2026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F793F45-1AD6-F456-CA8C-54B349231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12F98CB-26F9-4DD7-F99D-48A17DA784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F9C90-F693-413D-BBC1-C75F940579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69672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93F407-A654-EC75-655B-135DE2353A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A381CDA-6ACC-C307-E2A2-531EEB0CA7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9226B9A-92E2-792B-80E2-5DB1EA6A2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D1330-F66F-4BFB-872C-4BE289BD95E6}" type="datetimeFigureOut">
              <a:rPr lang="pt-BR" smtClean="0"/>
              <a:t>29/03/2026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9081D0C-F1C7-3E2E-613D-5F854E220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54B6493-1ED0-51BA-E582-657B45C8BB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F9C90-F693-413D-BBC1-C75F940579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853745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5F955A-37EC-1DD6-ED13-DE6DE98C5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F596384-E78B-E18A-6267-B25E9851A9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947D10F-0CC4-E109-C536-23284BEAD6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3726D51-87DA-9693-01F5-8F80A24D2B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D1330-F66F-4BFB-872C-4BE289BD95E6}" type="datetimeFigureOut">
              <a:rPr lang="pt-BR" smtClean="0"/>
              <a:t>29/03/2026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21F3BE7-3618-2B9B-0F3C-3FEEA176F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7F3A4B1-7172-E883-5F03-BFA023C4E3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F9C90-F693-413D-BBC1-C75F940579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604708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EE40FE-C7DB-261A-A4C2-230DB198F7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65492A5-2097-FB20-99D3-647F27ADD5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4D04700-9908-7DC3-4A07-529CC3C16D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CAA78065-7B65-F5C5-0029-DD151FDC2E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865EDE4C-A209-745B-ED7E-9061D881D4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561223BF-9304-FCCE-6D4F-EAF42DA48A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D1330-F66F-4BFB-872C-4BE289BD95E6}" type="datetimeFigureOut">
              <a:rPr lang="pt-BR" smtClean="0"/>
              <a:t>29/03/2026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E73634AC-F0BA-CF40-423E-C76510E653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E98133C6-05E6-075E-6C02-58C793928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F9C90-F693-413D-BBC1-C75F940579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460249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3C9FE3-A896-B9F2-77E6-E72B5A976B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CF64BB9E-FD47-4474-85CA-261202B54F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D1330-F66F-4BFB-872C-4BE289BD95E6}" type="datetimeFigureOut">
              <a:rPr lang="pt-BR" smtClean="0"/>
              <a:t>29/03/2026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F9B70ECD-C741-30D5-EE5D-E1C17B8513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0464327-765B-6053-F30C-EBAB9B84A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F9C90-F693-413D-BBC1-C75F940579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56804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343CDD75-E2E9-4486-0A28-23D60E05C8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D1330-F66F-4BFB-872C-4BE289BD95E6}" type="datetimeFigureOut">
              <a:rPr lang="pt-BR" smtClean="0"/>
              <a:t>29/03/2026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746F44F1-27B0-310D-3D10-B789F902A5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0CA2508-7286-8BF9-94E5-6D4CA8084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F9C90-F693-413D-BBC1-C75F940579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869754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0DBFB5-5DCB-B293-7FA6-B47D5577F2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B022FC9-E998-127D-60C9-5F3A35E018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6F54211-1B83-61CB-DC0B-CBD65AA474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5049021-CB6F-07B5-B9AC-900E0FBBC1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D1330-F66F-4BFB-872C-4BE289BD95E6}" type="datetimeFigureOut">
              <a:rPr lang="pt-BR" smtClean="0"/>
              <a:t>29/03/2026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1402D77-55EF-F17B-937F-5AFF2034EF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DF1F394-E5BD-7A0E-95F7-BAC1967E0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F9C90-F693-413D-BBC1-C75F940579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767664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4C2637-E9AD-38FD-B11C-9458D4CABD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7D68DCBF-BDC1-EBD7-1F29-324D7DB8D5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14685E5-16A0-DA8E-E1CC-6FA5684FAD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05EA963-65C7-F716-83D1-49E8304877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D1330-F66F-4BFB-872C-4BE289BD95E6}" type="datetimeFigureOut">
              <a:rPr lang="pt-BR" smtClean="0"/>
              <a:t>29/03/2026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4854D41-5BE6-DC40-4FA4-D7A5A09825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DE11FFD-9D8A-ED43-6C51-C514478A0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F9C90-F693-413D-BBC1-C75F940579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765257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73073B-F15B-F529-1523-FED6642E0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D92EF6F-ED82-DAFE-BB89-7EB74B998C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F5AF77-B945-0B4C-83D4-C162E12029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D1330-F66F-4BFB-872C-4BE289BD95E6}" type="datetimeFigureOut">
              <a:rPr lang="pt-BR" smtClean="0"/>
              <a:t>29/03/2026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2114941-7004-4FB1-84FB-70203DB0C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B507E13-3D68-1F9D-CAC3-9475A79778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F9C90-F693-413D-BBC1-C75F940579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385361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C42EA59-8F12-E480-3B6E-59D8480D7D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5888092-6AEE-BC68-51CF-41B323DB07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7EF93CF-5162-DFA4-B66B-3464F6D422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D1330-F66F-4BFB-872C-4BE289BD95E6}" type="datetimeFigureOut">
              <a:rPr lang="pt-BR" smtClean="0"/>
              <a:t>29/03/2026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9C61F0D-5915-1794-A9AD-1DF00CE37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D227AA6-BC08-770C-3190-B5BE2A4E8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F9C90-F693-413D-BBC1-C75F940579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53049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30E62D4D-1CFF-2C58-FEB2-A6C75489D5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BE8EAC3-66D0-DD09-8911-2BC7A8F5DD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931D5BC-F76D-77A8-BE04-04EE0892AB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9D1330-F66F-4BFB-872C-4BE289BD95E6}" type="datetimeFigureOut">
              <a:rPr lang="pt-BR" smtClean="0"/>
              <a:t>29/03/2026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470F974-F2CB-39D8-C9EB-5445A4AE6F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F83A1C9-D8C8-4EFA-0B19-8945ECCAE7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2F9C90-F693-413D-BBC1-C75F940579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362173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  <p:sldLayoutId id="2147483711" r:id="rId4"/>
    <p:sldLayoutId id="2147483712" r:id="rId5"/>
    <p:sldLayoutId id="2147483713" r:id="rId6"/>
    <p:sldLayoutId id="2147483714" r:id="rId7"/>
    <p:sldLayoutId id="2147483715" r:id="rId8"/>
    <p:sldLayoutId id="2147483716" r:id="rId9"/>
    <p:sldLayoutId id="2147483717" r:id="rId10"/>
    <p:sldLayoutId id="214748371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webp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4F65FDBA-9D5C-45E0-7A8E-67151AB69CA5}"/>
              </a:ext>
            </a:extLst>
          </p:cNvPr>
          <p:cNvSpPr txBox="1"/>
          <p:nvPr/>
        </p:nvSpPr>
        <p:spPr>
          <a:xfrm>
            <a:off x="1179942" y="2528325"/>
            <a:ext cx="983211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dirty="0"/>
              <a:t>110V AC Single-Phase to 220V AC Three-Phase 1KW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42E2E41D-0B79-5C71-AA4E-C9368C17C2D3}"/>
              </a:ext>
            </a:extLst>
          </p:cNvPr>
          <p:cNvSpPr txBox="1"/>
          <p:nvPr/>
        </p:nvSpPr>
        <p:spPr>
          <a:xfrm>
            <a:off x="4268502" y="1451731"/>
            <a:ext cx="3529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dirty="0"/>
              <a:t>Design Concept - Overview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5CD162D-D551-461D-2344-B8FDDEA9AE30}"/>
              </a:ext>
            </a:extLst>
          </p:cNvPr>
          <p:cNvSpPr txBox="1"/>
          <p:nvPr/>
        </p:nvSpPr>
        <p:spPr>
          <a:xfrm>
            <a:off x="4625683" y="140195"/>
            <a:ext cx="281506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/>
              <a:t>William Santos/Rosana Mendes</a:t>
            </a: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1355C4B4-C596-121D-9453-219B218C53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6641" y="3429000"/>
            <a:ext cx="3938716" cy="3178271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6381C64A-34D5-FEE3-156D-F8EBE7A2F7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9597" y="3547923"/>
            <a:ext cx="3252128" cy="2827654"/>
          </a:xfrm>
          <a:prstGeom prst="rect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E2D72D2E-FDF8-09B5-0E6F-DA464D1EFD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0151" y="4081245"/>
            <a:ext cx="4168521" cy="2111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86972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641AF6-29C7-DCC0-352F-D2EACD4222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Imagem 73">
            <a:extLst>
              <a:ext uri="{FF2B5EF4-FFF2-40B4-BE49-F238E27FC236}">
                <a16:creationId xmlns:a16="http://schemas.microsoft.com/office/drawing/2014/main" id="{900DEF16-D086-30FA-AA62-1ADC46C86D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8030" y="2075213"/>
            <a:ext cx="1501337" cy="1067617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F1E5B3CF-6A9B-1B61-7465-B27EEDE2169F}"/>
              </a:ext>
            </a:extLst>
          </p:cNvPr>
          <p:cNvSpPr txBox="1"/>
          <p:nvPr/>
        </p:nvSpPr>
        <p:spPr>
          <a:xfrm>
            <a:off x="4209569" y="650787"/>
            <a:ext cx="3529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dirty="0"/>
              <a:t>Design Concept - Overview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14E22214-88DB-530F-D7DB-989ED624B129}"/>
              </a:ext>
            </a:extLst>
          </p:cNvPr>
          <p:cNvSpPr txBox="1"/>
          <p:nvPr/>
        </p:nvSpPr>
        <p:spPr>
          <a:xfrm>
            <a:off x="4370077" y="85206"/>
            <a:ext cx="281506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/>
              <a:t>William Santos/Rosana Mendes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BBCC37CD-6BB6-FD13-D561-15F9FD622FE1}"/>
              </a:ext>
            </a:extLst>
          </p:cNvPr>
          <p:cNvSpPr/>
          <p:nvPr/>
        </p:nvSpPr>
        <p:spPr>
          <a:xfrm>
            <a:off x="1205631" y="1954232"/>
            <a:ext cx="2586681" cy="16887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FDB6A686-3AB3-370F-5BA5-EE12E9DA0F6F}"/>
              </a:ext>
            </a:extLst>
          </p:cNvPr>
          <p:cNvSpPr/>
          <p:nvPr/>
        </p:nvSpPr>
        <p:spPr>
          <a:xfrm>
            <a:off x="4149495" y="1954232"/>
            <a:ext cx="3188713" cy="238897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076B3A4B-8C15-7918-8142-3A77B2AA8A28}"/>
              </a:ext>
            </a:extLst>
          </p:cNvPr>
          <p:cNvSpPr/>
          <p:nvPr/>
        </p:nvSpPr>
        <p:spPr>
          <a:xfrm>
            <a:off x="7738997" y="1954232"/>
            <a:ext cx="2586681" cy="16887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1" name="Conector de Seta Reta 10">
            <a:extLst>
              <a:ext uri="{FF2B5EF4-FFF2-40B4-BE49-F238E27FC236}">
                <a16:creationId xmlns:a16="http://schemas.microsoft.com/office/drawing/2014/main" id="{A87FE298-45E5-BC24-8D33-2E1743BF0668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3792312" y="2798611"/>
            <a:ext cx="393355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de Seta Reta 12">
            <a:extLst>
              <a:ext uri="{FF2B5EF4-FFF2-40B4-BE49-F238E27FC236}">
                <a16:creationId xmlns:a16="http://schemas.microsoft.com/office/drawing/2014/main" id="{EA57A2AE-9624-079F-7339-60833AB91027}"/>
              </a:ext>
            </a:extLst>
          </p:cNvPr>
          <p:cNvCxnSpPr>
            <a:cxnSpLocks/>
          </p:cNvCxnSpPr>
          <p:nvPr/>
        </p:nvCxnSpPr>
        <p:spPr>
          <a:xfrm>
            <a:off x="7338208" y="2798611"/>
            <a:ext cx="393356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>
            <a:extLst>
              <a:ext uri="{FF2B5EF4-FFF2-40B4-BE49-F238E27FC236}">
                <a16:creationId xmlns:a16="http://schemas.microsoft.com/office/drawing/2014/main" id="{30BE2F53-4153-50F7-CB9E-9E205BB3407E}"/>
              </a:ext>
            </a:extLst>
          </p:cNvPr>
          <p:cNvCxnSpPr>
            <a:cxnSpLocks/>
          </p:cNvCxnSpPr>
          <p:nvPr/>
        </p:nvCxnSpPr>
        <p:spPr>
          <a:xfrm flipV="1">
            <a:off x="10292681" y="2786908"/>
            <a:ext cx="400260" cy="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A7ED43CE-595D-D74E-A09E-71A04FBEE95C}"/>
              </a:ext>
            </a:extLst>
          </p:cNvPr>
          <p:cNvSpPr txBox="1"/>
          <p:nvPr/>
        </p:nvSpPr>
        <p:spPr>
          <a:xfrm>
            <a:off x="1900980" y="2402264"/>
            <a:ext cx="10791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>
                <a:solidFill>
                  <a:srgbClr val="FF0000"/>
                </a:solidFill>
              </a:rPr>
              <a:t>AC/DC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05DAE1F6-66F3-5279-DA53-C0A1A8832044}"/>
              </a:ext>
            </a:extLst>
          </p:cNvPr>
          <p:cNvSpPr txBox="1"/>
          <p:nvPr/>
        </p:nvSpPr>
        <p:spPr>
          <a:xfrm>
            <a:off x="5392273" y="2765389"/>
            <a:ext cx="914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>
                <a:solidFill>
                  <a:srgbClr val="FF0000"/>
                </a:solidFill>
              </a:rPr>
              <a:t>DC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A6C73BCA-BE33-8785-145D-8CC92EF32D13}"/>
              </a:ext>
            </a:extLst>
          </p:cNvPr>
          <p:cNvSpPr txBox="1"/>
          <p:nvPr/>
        </p:nvSpPr>
        <p:spPr>
          <a:xfrm>
            <a:off x="8480875" y="2418260"/>
            <a:ext cx="11526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>
                <a:solidFill>
                  <a:srgbClr val="FF0000"/>
                </a:solidFill>
              </a:rPr>
              <a:t>DC/AC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6D96E419-2A5B-C2CF-069A-7D4947AEB2DF}"/>
              </a:ext>
            </a:extLst>
          </p:cNvPr>
          <p:cNvSpPr txBox="1"/>
          <p:nvPr/>
        </p:nvSpPr>
        <p:spPr>
          <a:xfrm>
            <a:off x="1596036" y="1477973"/>
            <a:ext cx="21088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>
                <a:solidFill>
                  <a:srgbClr val="FF0000"/>
                </a:solidFill>
              </a:rPr>
              <a:t>RECTIFIER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FE71A120-BBB4-45AB-6D0E-C6922BD571D9}"/>
              </a:ext>
            </a:extLst>
          </p:cNvPr>
          <p:cNvSpPr txBox="1"/>
          <p:nvPr/>
        </p:nvSpPr>
        <p:spPr>
          <a:xfrm>
            <a:off x="4612875" y="2069733"/>
            <a:ext cx="24589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>
                <a:solidFill>
                  <a:srgbClr val="FF0000"/>
                </a:solidFill>
              </a:rPr>
              <a:t>PWM CONTROL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1344F79D-3C0F-2699-B07B-77C46CF3442B}"/>
              </a:ext>
            </a:extLst>
          </p:cNvPr>
          <p:cNvSpPr txBox="1"/>
          <p:nvPr/>
        </p:nvSpPr>
        <p:spPr>
          <a:xfrm>
            <a:off x="8070708" y="1531175"/>
            <a:ext cx="21088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>
                <a:solidFill>
                  <a:srgbClr val="FF0000"/>
                </a:solidFill>
              </a:rPr>
              <a:t>INVERTER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8D078E27-8683-65E3-922B-6EE89E173408}"/>
              </a:ext>
            </a:extLst>
          </p:cNvPr>
          <p:cNvSpPr txBox="1"/>
          <p:nvPr/>
        </p:nvSpPr>
        <p:spPr>
          <a:xfrm>
            <a:off x="10688197" y="3266061"/>
            <a:ext cx="138100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>
                <a:solidFill>
                  <a:srgbClr val="FF0000"/>
                </a:solidFill>
              </a:rPr>
              <a:t>Electric Motor</a:t>
            </a:r>
          </a:p>
          <a:p>
            <a:r>
              <a:rPr lang="pt-BR" sz="2400" b="1" dirty="0">
                <a:solidFill>
                  <a:srgbClr val="FF0000"/>
                </a:solidFill>
              </a:rPr>
              <a:t>AC 220V 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12915391-1A13-FFD6-608C-B939EA71593E}"/>
              </a:ext>
            </a:extLst>
          </p:cNvPr>
          <p:cNvSpPr txBox="1"/>
          <p:nvPr/>
        </p:nvSpPr>
        <p:spPr>
          <a:xfrm>
            <a:off x="10743886" y="1601084"/>
            <a:ext cx="21294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b="1" dirty="0">
                <a:solidFill>
                  <a:srgbClr val="FF0000"/>
                </a:solidFill>
              </a:rPr>
              <a:t>Three-Phase</a:t>
            </a:r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FF13017B-F5EF-A3CE-6E44-D0AED7A80EE1}"/>
              </a:ext>
            </a:extLst>
          </p:cNvPr>
          <p:cNvSpPr/>
          <p:nvPr/>
        </p:nvSpPr>
        <p:spPr>
          <a:xfrm>
            <a:off x="5257329" y="3628395"/>
            <a:ext cx="1040562" cy="61391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9C8A3E14-62FF-6DFF-BA29-3A0425A322AB}"/>
              </a:ext>
            </a:extLst>
          </p:cNvPr>
          <p:cNvSpPr txBox="1"/>
          <p:nvPr/>
        </p:nvSpPr>
        <p:spPr>
          <a:xfrm>
            <a:off x="1356762" y="2937793"/>
            <a:ext cx="23670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>
                <a:solidFill>
                  <a:srgbClr val="FF0000"/>
                </a:solidFill>
              </a:rPr>
              <a:t>127AC       180DC</a:t>
            </a: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50255026-C7FA-6255-5C63-F410D66F5900}"/>
              </a:ext>
            </a:extLst>
          </p:cNvPr>
          <p:cNvSpPr txBox="1"/>
          <p:nvPr/>
        </p:nvSpPr>
        <p:spPr>
          <a:xfrm>
            <a:off x="4087556" y="3705627"/>
            <a:ext cx="116977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solidFill>
                  <a:srgbClr val="FF0000"/>
                </a:solidFill>
              </a:rPr>
              <a:t>180VC</a:t>
            </a:r>
          </a:p>
        </p:txBody>
      </p:sp>
      <p:cxnSp>
        <p:nvCxnSpPr>
          <p:cNvPr id="27" name="Conector de Seta Reta 26">
            <a:extLst>
              <a:ext uri="{FF2B5EF4-FFF2-40B4-BE49-F238E27FC236}">
                <a16:creationId xmlns:a16="http://schemas.microsoft.com/office/drawing/2014/main" id="{BBAF5FC3-01F0-A90A-3CB6-1498A9DA1F59}"/>
              </a:ext>
            </a:extLst>
          </p:cNvPr>
          <p:cNvCxnSpPr>
            <a:cxnSpLocks/>
            <a:endCxn id="26" idx="3"/>
          </p:cNvCxnSpPr>
          <p:nvPr/>
        </p:nvCxnSpPr>
        <p:spPr>
          <a:xfrm>
            <a:off x="4865914" y="3903324"/>
            <a:ext cx="391415" cy="235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F079DCDF-2CF8-985E-F5C2-7C39CC81D8B2}"/>
              </a:ext>
            </a:extLst>
          </p:cNvPr>
          <p:cNvSpPr txBox="1"/>
          <p:nvPr/>
        </p:nvSpPr>
        <p:spPr>
          <a:xfrm>
            <a:off x="5238475" y="3685836"/>
            <a:ext cx="13233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rgbClr val="FF0000"/>
                </a:solidFill>
              </a:rPr>
              <a:t>BOOST CONVERTER</a:t>
            </a:r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1B73574A-7419-2A2A-35FA-64090D738F77}"/>
              </a:ext>
            </a:extLst>
          </p:cNvPr>
          <p:cNvSpPr txBox="1"/>
          <p:nvPr/>
        </p:nvSpPr>
        <p:spPr>
          <a:xfrm>
            <a:off x="6561791" y="3711868"/>
            <a:ext cx="116977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solidFill>
                  <a:srgbClr val="FF0000"/>
                </a:solidFill>
              </a:rPr>
              <a:t>310VC</a:t>
            </a:r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A520A12A-15D0-C1F7-E78D-DF562E9AAD2E}"/>
              </a:ext>
            </a:extLst>
          </p:cNvPr>
          <p:cNvSpPr txBox="1"/>
          <p:nvPr/>
        </p:nvSpPr>
        <p:spPr>
          <a:xfrm>
            <a:off x="7925002" y="2960829"/>
            <a:ext cx="24867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>
                <a:solidFill>
                  <a:srgbClr val="FF0000"/>
                </a:solidFill>
              </a:rPr>
              <a:t>310VC       220AC</a:t>
            </a:r>
          </a:p>
        </p:txBody>
      </p:sp>
      <p:sp>
        <p:nvSpPr>
          <p:cNvPr id="52" name="CaixaDeTexto 51">
            <a:extLst>
              <a:ext uri="{FF2B5EF4-FFF2-40B4-BE49-F238E27FC236}">
                <a16:creationId xmlns:a16="http://schemas.microsoft.com/office/drawing/2014/main" id="{B60B7481-B9B7-A8A3-510E-2EBD565EBB4B}"/>
              </a:ext>
            </a:extLst>
          </p:cNvPr>
          <p:cNvSpPr txBox="1"/>
          <p:nvPr/>
        </p:nvSpPr>
        <p:spPr>
          <a:xfrm>
            <a:off x="-59504" y="2245341"/>
            <a:ext cx="21294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b="1" dirty="0">
                <a:solidFill>
                  <a:srgbClr val="FF0000"/>
                </a:solidFill>
              </a:rPr>
              <a:t>INPUT 127 AC</a:t>
            </a:r>
          </a:p>
        </p:txBody>
      </p: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AF72EE53-7075-80F6-A3AE-9EC7B9A43876}"/>
              </a:ext>
            </a:extLst>
          </p:cNvPr>
          <p:cNvSpPr txBox="1"/>
          <p:nvPr/>
        </p:nvSpPr>
        <p:spPr>
          <a:xfrm>
            <a:off x="-37701" y="2032977"/>
            <a:ext cx="21294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rgbClr val="FF0000"/>
                </a:solidFill>
              </a:rPr>
              <a:t>SINGLE-PHASE</a:t>
            </a:r>
          </a:p>
        </p:txBody>
      </p:sp>
      <p:cxnSp>
        <p:nvCxnSpPr>
          <p:cNvPr id="54" name="Conector de Seta Reta 53">
            <a:extLst>
              <a:ext uri="{FF2B5EF4-FFF2-40B4-BE49-F238E27FC236}">
                <a16:creationId xmlns:a16="http://schemas.microsoft.com/office/drawing/2014/main" id="{EBA14DC1-BE17-193A-CB1A-3D83BD2125B2}"/>
              </a:ext>
            </a:extLst>
          </p:cNvPr>
          <p:cNvCxnSpPr/>
          <p:nvPr/>
        </p:nvCxnSpPr>
        <p:spPr>
          <a:xfrm>
            <a:off x="626567" y="2576926"/>
            <a:ext cx="564292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CaixaDeTexto 54">
            <a:extLst>
              <a:ext uri="{FF2B5EF4-FFF2-40B4-BE49-F238E27FC236}">
                <a16:creationId xmlns:a16="http://schemas.microsoft.com/office/drawing/2014/main" id="{CB2DA2A9-1534-493B-AD6B-BE0F1D37D366}"/>
              </a:ext>
            </a:extLst>
          </p:cNvPr>
          <p:cNvSpPr txBox="1"/>
          <p:nvPr/>
        </p:nvSpPr>
        <p:spPr>
          <a:xfrm>
            <a:off x="4748799" y="1531176"/>
            <a:ext cx="21088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>
                <a:solidFill>
                  <a:srgbClr val="FF0000"/>
                </a:solidFill>
              </a:rPr>
              <a:t>CONTROLLER</a:t>
            </a:r>
          </a:p>
        </p:txBody>
      </p:sp>
      <p:cxnSp>
        <p:nvCxnSpPr>
          <p:cNvPr id="65" name="Conector de Seta Reta 64">
            <a:extLst>
              <a:ext uri="{FF2B5EF4-FFF2-40B4-BE49-F238E27FC236}">
                <a16:creationId xmlns:a16="http://schemas.microsoft.com/office/drawing/2014/main" id="{A38F0072-5611-DF64-436C-C100557D92E0}"/>
              </a:ext>
            </a:extLst>
          </p:cNvPr>
          <p:cNvCxnSpPr>
            <a:cxnSpLocks/>
          </p:cNvCxnSpPr>
          <p:nvPr/>
        </p:nvCxnSpPr>
        <p:spPr>
          <a:xfrm>
            <a:off x="6297892" y="3911923"/>
            <a:ext cx="296185" cy="1430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ector de Seta Reta 70">
            <a:extLst>
              <a:ext uri="{FF2B5EF4-FFF2-40B4-BE49-F238E27FC236}">
                <a16:creationId xmlns:a16="http://schemas.microsoft.com/office/drawing/2014/main" id="{ECF8B932-6F4C-9515-C53C-249E112B4870}"/>
              </a:ext>
            </a:extLst>
          </p:cNvPr>
          <p:cNvCxnSpPr>
            <a:cxnSpLocks/>
          </p:cNvCxnSpPr>
          <p:nvPr/>
        </p:nvCxnSpPr>
        <p:spPr>
          <a:xfrm>
            <a:off x="2302293" y="3168625"/>
            <a:ext cx="393355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Conector de Seta Reta 71">
            <a:extLst>
              <a:ext uri="{FF2B5EF4-FFF2-40B4-BE49-F238E27FC236}">
                <a16:creationId xmlns:a16="http://schemas.microsoft.com/office/drawing/2014/main" id="{727A77D8-0334-20FF-BBE6-0FFF90F21F83}"/>
              </a:ext>
            </a:extLst>
          </p:cNvPr>
          <p:cNvCxnSpPr>
            <a:cxnSpLocks/>
          </p:cNvCxnSpPr>
          <p:nvPr/>
        </p:nvCxnSpPr>
        <p:spPr>
          <a:xfrm>
            <a:off x="8874370" y="3191661"/>
            <a:ext cx="393355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18179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322B10-E3E7-C86A-0FDD-CFA0BE0F40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C168EEA0-253E-3709-5B6D-B180664ECEF4}"/>
              </a:ext>
            </a:extLst>
          </p:cNvPr>
          <p:cNvSpPr txBox="1"/>
          <p:nvPr/>
        </p:nvSpPr>
        <p:spPr>
          <a:xfrm>
            <a:off x="4209569" y="650787"/>
            <a:ext cx="3529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dirty="0"/>
              <a:t>Design Concept - Overview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E655A51-C718-C5B0-CE36-555F0D6721E8}"/>
              </a:ext>
            </a:extLst>
          </p:cNvPr>
          <p:cNvSpPr txBox="1"/>
          <p:nvPr/>
        </p:nvSpPr>
        <p:spPr>
          <a:xfrm>
            <a:off x="4509052" y="131806"/>
            <a:ext cx="281506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/>
              <a:t>William Santos/Rosana Mendes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18762D20-863E-72C3-1490-B5D8CC458CD3}"/>
              </a:ext>
            </a:extLst>
          </p:cNvPr>
          <p:cNvSpPr/>
          <p:nvPr/>
        </p:nvSpPr>
        <p:spPr>
          <a:xfrm>
            <a:off x="1205631" y="1954232"/>
            <a:ext cx="2586681" cy="16887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1" name="Conector de Seta Reta 10">
            <a:extLst>
              <a:ext uri="{FF2B5EF4-FFF2-40B4-BE49-F238E27FC236}">
                <a16:creationId xmlns:a16="http://schemas.microsoft.com/office/drawing/2014/main" id="{078357C3-9F9F-5FB5-D571-3B483C782A63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3792312" y="2798611"/>
            <a:ext cx="393355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DB7CBD09-0EEC-C0CC-26C1-A2AA3B6EB622}"/>
              </a:ext>
            </a:extLst>
          </p:cNvPr>
          <p:cNvSpPr txBox="1"/>
          <p:nvPr/>
        </p:nvSpPr>
        <p:spPr>
          <a:xfrm>
            <a:off x="1900980" y="2402264"/>
            <a:ext cx="10791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>
                <a:solidFill>
                  <a:srgbClr val="FF0000"/>
                </a:solidFill>
              </a:rPr>
              <a:t>AC/DC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AD553C20-AD12-01A9-F9E9-EAC60FB6C775}"/>
              </a:ext>
            </a:extLst>
          </p:cNvPr>
          <p:cNvSpPr txBox="1"/>
          <p:nvPr/>
        </p:nvSpPr>
        <p:spPr>
          <a:xfrm>
            <a:off x="1641205" y="1453194"/>
            <a:ext cx="21088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>
                <a:solidFill>
                  <a:srgbClr val="FF0000"/>
                </a:solidFill>
              </a:rPr>
              <a:t>RECTIFIER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C1505851-9C56-738C-CEBA-7FB4B65127C9}"/>
              </a:ext>
            </a:extLst>
          </p:cNvPr>
          <p:cNvSpPr txBox="1"/>
          <p:nvPr/>
        </p:nvSpPr>
        <p:spPr>
          <a:xfrm>
            <a:off x="1356762" y="2937793"/>
            <a:ext cx="23670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>
                <a:solidFill>
                  <a:srgbClr val="FF0000"/>
                </a:solidFill>
              </a:rPr>
              <a:t>127AC       180DC</a:t>
            </a:r>
          </a:p>
        </p:txBody>
      </p:sp>
      <p:sp>
        <p:nvSpPr>
          <p:cNvPr id="52" name="CaixaDeTexto 51">
            <a:extLst>
              <a:ext uri="{FF2B5EF4-FFF2-40B4-BE49-F238E27FC236}">
                <a16:creationId xmlns:a16="http://schemas.microsoft.com/office/drawing/2014/main" id="{443CD434-44ED-3B3C-FDF1-AF7167D71FE9}"/>
              </a:ext>
            </a:extLst>
          </p:cNvPr>
          <p:cNvSpPr txBox="1"/>
          <p:nvPr/>
        </p:nvSpPr>
        <p:spPr>
          <a:xfrm>
            <a:off x="-59504" y="2245341"/>
            <a:ext cx="21294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b="1" dirty="0">
                <a:solidFill>
                  <a:srgbClr val="FF0000"/>
                </a:solidFill>
              </a:rPr>
              <a:t>INPUT 127 AC</a:t>
            </a:r>
          </a:p>
        </p:txBody>
      </p: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B0A4D6BE-4F3E-4A9D-8E12-E07F9BF39C0D}"/>
              </a:ext>
            </a:extLst>
          </p:cNvPr>
          <p:cNvSpPr txBox="1"/>
          <p:nvPr/>
        </p:nvSpPr>
        <p:spPr>
          <a:xfrm>
            <a:off x="-37701" y="2032977"/>
            <a:ext cx="21294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rgbClr val="FF0000"/>
                </a:solidFill>
              </a:rPr>
              <a:t>SINGLE-PHASE</a:t>
            </a:r>
          </a:p>
        </p:txBody>
      </p:sp>
      <p:cxnSp>
        <p:nvCxnSpPr>
          <p:cNvPr id="54" name="Conector de Seta Reta 53">
            <a:extLst>
              <a:ext uri="{FF2B5EF4-FFF2-40B4-BE49-F238E27FC236}">
                <a16:creationId xmlns:a16="http://schemas.microsoft.com/office/drawing/2014/main" id="{CA79387C-C412-8C1A-7368-773B4311AE5C}"/>
              </a:ext>
            </a:extLst>
          </p:cNvPr>
          <p:cNvCxnSpPr/>
          <p:nvPr/>
        </p:nvCxnSpPr>
        <p:spPr>
          <a:xfrm>
            <a:off x="626567" y="2576926"/>
            <a:ext cx="564292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ector de Seta Reta 70">
            <a:extLst>
              <a:ext uri="{FF2B5EF4-FFF2-40B4-BE49-F238E27FC236}">
                <a16:creationId xmlns:a16="http://schemas.microsoft.com/office/drawing/2014/main" id="{88B36CD4-A0D8-62B1-AF20-25836A564856}"/>
              </a:ext>
            </a:extLst>
          </p:cNvPr>
          <p:cNvCxnSpPr>
            <a:cxnSpLocks/>
          </p:cNvCxnSpPr>
          <p:nvPr/>
        </p:nvCxnSpPr>
        <p:spPr>
          <a:xfrm>
            <a:off x="2302293" y="3168625"/>
            <a:ext cx="393355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aixaDeTexto 1">
            <a:extLst>
              <a:ext uri="{FF2B5EF4-FFF2-40B4-BE49-F238E27FC236}">
                <a16:creationId xmlns:a16="http://schemas.microsoft.com/office/drawing/2014/main" id="{4A5DAE64-BBE1-B48F-E631-D471FF5AFC43}"/>
              </a:ext>
            </a:extLst>
          </p:cNvPr>
          <p:cNvSpPr txBox="1"/>
          <p:nvPr/>
        </p:nvSpPr>
        <p:spPr>
          <a:xfrm>
            <a:off x="5974283" y="1499360"/>
            <a:ext cx="60401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/>
              <a:t>WHY IS IT NECESSARY TO RECTIFY A SIGNAL FROM AC TO DC?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FA3CA85F-2039-A48F-4723-E0EF4F20FE36}"/>
              </a:ext>
            </a:extLst>
          </p:cNvPr>
          <p:cNvSpPr txBox="1"/>
          <p:nvPr/>
        </p:nvSpPr>
        <p:spPr>
          <a:xfrm>
            <a:off x="6521402" y="2002199"/>
            <a:ext cx="46365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PWM CONTROL TO BUILD THE THREE PHASE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aixaDeTexto 3">
                <a:extLst>
                  <a:ext uri="{FF2B5EF4-FFF2-40B4-BE49-F238E27FC236}">
                    <a16:creationId xmlns:a16="http://schemas.microsoft.com/office/drawing/2014/main" id="{A4C474B0-E170-EC0B-5F57-C2849F056C3F}"/>
                  </a:ext>
                </a:extLst>
              </p:cNvPr>
              <p:cNvSpPr txBox="1"/>
              <p:nvPr/>
            </p:nvSpPr>
            <p:spPr>
              <a:xfrm>
                <a:off x="1561503" y="3996887"/>
                <a:ext cx="1758110" cy="39632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dirty="0"/>
                  <a:t>VDC = VRMS*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endParaRPr lang="pt-BR" dirty="0"/>
              </a:p>
            </p:txBody>
          </p:sp>
        </mc:Choice>
        <mc:Fallback>
          <p:sp>
            <p:nvSpPr>
              <p:cNvPr id="4" name="CaixaDeTexto 3">
                <a:extLst>
                  <a:ext uri="{FF2B5EF4-FFF2-40B4-BE49-F238E27FC236}">
                    <a16:creationId xmlns:a16="http://schemas.microsoft.com/office/drawing/2014/main" id="{A4C474B0-E170-EC0B-5F57-C2849F056C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1503" y="3996887"/>
                <a:ext cx="1758110" cy="396327"/>
              </a:xfrm>
              <a:prstGeom prst="rect">
                <a:avLst/>
              </a:prstGeom>
              <a:blipFill>
                <a:blip r:embed="rId2"/>
                <a:stretch>
                  <a:fillRect l="-2768" t="-1538" b="-2461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7D1439E9-3B48-E910-76E4-418B6D668481}"/>
                  </a:ext>
                </a:extLst>
              </p:cNvPr>
              <p:cNvSpPr txBox="1"/>
              <p:nvPr/>
            </p:nvSpPr>
            <p:spPr>
              <a:xfrm>
                <a:off x="1665698" y="4393214"/>
                <a:ext cx="1549720" cy="39632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dirty="0"/>
                  <a:t>VDC = 127*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endParaRPr lang="pt-BR" dirty="0"/>
              </a:p>
            </p:txBody>
          </p:sp>
        </mc:Choice>
        <mc:Fallback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7D1439E9-3B48-E910-76E4-418B6D6684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5698" y="4393214"/>
                <a:ext cx="1549720" cy="396327"/>
              </a:xfrm>
              <a:prstGeom prst="rect">
                <a:avLst/>
              </a:prstGeom>
              <a:blipFill>
                <a:blip r:embed="rId3"/>
                <a:stretch>
                  <a:fillRect l="-3150" t="-1538" b="-2461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CaixaDeTexto 11">
            <a:extLst>
              <a:ext uri="{FF2B5EF4-FFF2-40B4-BE49-F238E27FC236}">
                <a16:creationId xmlns:a16="http://schemas.microsoft.com/office/drawing/2014/main" id="{70D002E8-148C-C5BF-1D6E-3F8E775FC03A}"/>
              </a:ext>
            </a:extLst>
          </p:cNvPr>
          <p:cNvSpPr txBox="1"/>
          <p:nvPr/>
        </p:nvSpPr>
        <p:spPr>
          <a:xfrm>
            <a:off x="1724110" y="4789541"/>
            <a:ext cx="18646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VDC = 179.6051 V</a:t>
            </a:r>
          </a:p>
        </p:txBody>
      </p:sp>
      <p:pic>
        <p:nvPicPr>
          <p:cNvPr id="31" name="Imagem 30">
            <a:extLst>
              <a:ext uri="{FF2B5EF4-FFF2-40B4-BE49-F238E27FC236}">
                <a16:creationId xmlns:a16="http://schemas.microsoft.com/office/drawing/2014/main" id="{7556E8AD-C40B-AB37-C973-7B5B31228C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9014" y="2505038"/>
            <a:ext cx="5761365" cy="3485095"/>
          </a:xfrm>
          <a:prstGeom prst="rect">
            <a:avLst/>
          </a:prstGeom>
        </p:spPr>
      </p:pic>
      <p:sp>
        <p:nvSpPr>
          <p:cNvPr id="32" name="CaixaDeTexto 31">
            <a:extLst>
              <a:ext uri="{FF2B5EF4-FFF2-40B4-BE49-F238E27FC236}">
                <a16:creationId xmlns:a16="http://schemas.microsoft.com/office/drawing/2014/main" id="{8AB006A3-B1F5-942A-EFE3-3F385BE42B26}"/>
              </a:ext>
            </a:extLst>
          </p:cNvPr>
          <p:cNvSpPr txBox="1"/>
          <p:nvPr/>
        </p:nvSpPr>
        <p:spPr>
          <a:xfrm>
            <a:off x="1900980" y="5158873"/>
            <a:ext cx="14420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VDC =~ 180V</a:t>
            </a:r>
          </a:p>
        </p:txBody>
      </p:sp>
      <p:sp>
        <p:nvSpPr>
          <p:cNvPr id="33" name="Retângulo 32">
            <a:extLst>
              <a:ext uri="{FF2B5EF4-FFF2-40B4-BE49-F238E27FC236}">
                <a16:creationId xmlns:a16="http://schemas.microsoft.com/office/drawing/2014/main" id="{2A96549C-49B0-F046-12A9-32B81D1937BD}"/>
              </a:ext>
            </a:extLst>
          </p:cNvPr>
          <p:cNvSpPr/>
          <p:nvPr/>
        </p:nvSpPr>
        <p:spPr>
          <a:xfrm>
            <a:off x="1923472" y="5204304"/>
            <a:ext cx="1542410" cy="27847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338718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28AB55-7F09-0C14-BA2F-9F9A4E2E57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2B96E2CD-77CA-27C2-73A8-8114EB9EF9F0}"/>
              </a:ext>
            </a:extLst>
          </p:cNvPr>
          <p:cNvSpPr txBox="1"/>
          <p:nvPr/>
        </p:nvSpPr>
        <p:spPr>
          <a:xfrm>
            <a:off x="4209569" y="650787"/>
            <a:ext cx="3529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dirty="0"/>
              <a:t>Design Concept - Overview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2B51EE99-99EC-1091-69C7-2F29D277D6E6}"/>
              </a:ext>
            </a:extLst>
          </p:cNvPr>
          <p:cNvSpPr txBox="1"/>
          <p:nvPr/>
        </p:nvSpPr>
        <p:spPr>
          <a:xfrm>
            <a:off x="4370077" y="85206"/>
            <a:ext cx="281506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/>
              <a:t>William Santos/Rosana Mendes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E3C5CD36-2FDE-6930-7AF8-4C76480A5EE4}"/>
              </a:ext>
            </a:extLst>
          </p:cNvPr>
          <p:cNvSpPr/>
          <p:nvPr/>
        </p:nvSpPr>
        <p:spPr>
          <a:xfrm>
            <a:off x="517062" y="1669007"/>
            <a:ext cx="3188713" cy="238897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1" name="Conector de Seta Reta 10">
            <a:extLst>
              <a:ext uri="{FF2B5EF4-FFF2-40B4-BE49-F238E27FC236}">
                <a16:creationId xmlns:a16="http://schemas.microsoft.com/office/drawing/2014/main" id="{BDE75B6A-4DE9-FFDA-830A-C184CF5C0C06}"/>
              </a:ext>
            </a:extLst>
          </p:cNvPr>
          <p:cNvCxnSpPr>
            <a:cxnSpLocks/>
          </p:cNvCxnSpPr>
          <p:nvPr/>
        </p:nvCxnSpPr>
        <p:spPr>
          <a:xfrm>
            <a:off x="159879" y="2513386"/>
            <a:ext cx="393355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de Seta Reta 12">
            <a:extLst>
              <a:ext uri="{FF2B5EF4-FFF2-40B4-BE49-F238E27FC236}">
                <a16:creationId xmlns:a16="http://schemas.microsoft.com/office/drawing/2014/main" id="{F28CDF8E-90E7-6EEA-3A01-9CAB5BC65F19}"/>
              </a:ext>
            </a:extLst>
          </p:cNvPr>
          <p:cNvCxnSpPr>
            <a:cxnSpLocks/>
          </p:cNvCxnSpPr>
          <p:nvPr/>
        </p:nvCxnSpPr>
        <p:spPr>
          <a:xfrm>
            <a:off x="3705775" y="2513386"/>
            <a:ext cx="393356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F3A6E7CE-5AA0-B92E-6F3D-F1EE71324850}"/>
              </a:ext>
            </a:extLst>
          </p:cNvPr>
          <p:cNvSpPr txBox="1"/>
          <p:nvPr/>
        </p:nvSpPr>
        <p:spPr>
          <a:xfrm>
            <a:off x="1759840" y="2480164"/>
            <a:ext cx="914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>
                <a:solidFill>
                  <a:srgbClr val="FF0000"/>
                </a:solidFill>
              </a:rPr>
              <a:t>DC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72B979B3-99A1-FA2D-BC97-B0313BC8B9DF}"/>
              </a:ext>
            </a:extLst>
          </p:cNvPr>
          <p:cNvSpPr txBox="1"/>
          <p:nvPr/>
        </p:nvSpPr>
        <p:spPr>
          <a:xfrm>
            <a:off x="980442" y="1784508"/>
            <a:ext cx="24589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>
                <a:solidFill>
                  <a:srgbClr val="FF0000"/>
                </a:solidFill>
              </a:rPr>
              <a:t>PWM CONTROL</a:t>
            </a:r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F9EFE151-3017-E5B3-4495-AF06DF037FE3}"/>
              </a:ext>
            </a:extLst>
          </p:cNvPr>
          <p:cNvSpPr/>
          <p:nvPr/>
        </p:nvSpPr>
        <p:spPr>
          <a:xfrm>
            <a:off x="1624896" y="3343170"/>
            <a:ext cx="1040562" cy="61391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6F4561E2-1430-4D5F-AE6C-1D6C61766659}"/>
              </a:ext>
            </a:extLst>
          </p:cNvPr>
          <p:cNvSpPr txBox="1"/>
          <p:nvPr/>
        </p:nvSpPr>
        <p:spPr>
          <a:xfrm>
            <a:off x="455123" y="3420402"/>
            <a:ext cx="116977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solidFill>
                  <a:srgbClr val="FF0000"/>
                </a:solidFill>
              </a:rPr>
              <a:t>180VC</a:t>
            </a:r>
          </a:p>
        </p:txBody>
      </p:sp>
      <p:cxnSp>
        <p:nvCxnSpPr>
          <p:cNvPr id="27" name="Conector de Seta Reta 26">
            <a:extLst>
              <a:ext uri="{FF2B5EF4-FFF2-40B4-BE49-F238E27FC236}">
                <a16:creationId xmlns:a16="http://schemas.microsoft.com/office/drawing/2014/main" id="{DF91A5B9-C9EA-39B7-C9EB-C701F4411045}"/>
              </a:ext>
            </a:extLst>
          </p:cNvPr>
          <p:cNvCxnSpPr>
            <a:cxnSpLocks/>
            <a:endCxn id="26" idx="3"/>
          </p:cNvCxnSpPr>
          <p:nvPr/>
        </p:nvCxnSpPr>
        <p:spPr>
          <a:xfrm>
            <a:off x="1233481" y="3618099"/>
            <a:ext cx="391415" cy="235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244C32D3-CB2E-6EE6-9A72-ADD9722E03FC}"/>
              </a:ext>
            </a:extLst>
          </p:cNvPr>
          <p:cNvSpPr txBox="1"/>
          <p:nvPr/>
        </p:nvSpPr>
        <p:spPr>
          <a:xfrm>
            <a:off x="1606042" y="3400611"/>
            <a:ext cx="13233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rgbClr val="FF0000"/>
                </a:solidFill>
              </a:rPr>
              <a:t>BOOST CONVERTER</a:t>
            </a:r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A9A10BFE-4666-0EB7-4A8C-8950AEB540B6}"/>
              </a:ext>
            </a:extLst>
          </p:cNvPr>
          <p:cNvSpPr txBox="1"/>
          <p:nvPr/>
        </p:nvSpPr>
        <p:spPr>
          <a:xfrm>
            <a:off x="2929358" y="3426643"/>
            <a:ext cx="116977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solidFill>
                  <a:srgbClr val="FF0000"/>
                </a:solidFill>
              </a:rPr>
              <a:t>310VC</a:t>
            </a:r>
          </a:p>
        </p:txBody>
      </p:sp>
      <p:sp>
        <p:nvSpPr>
          <p:cNvPr id="55" name="CaixaDeTexto 54">
            <a:extLst>
              <a:ext uri="{FF2B5EF4-FFF2-40B4-BE49-F238E27FC236}">
                <a16:creationId xmlns:a16="http://schemas.microsoft.com/office/drawing/2014/main" id="{A251F6AD-1ADB-F88A-D60C-87AD17B80B39}"/>
              </a:ext>
            </a:extLst>
          </p:cNvPr>
          <p:cNvSpPr txBox="1"/>
          <p:nvPr/>
        </p:nvSpPr>
        <p:spPr>
          <a:xfrm>
            <a:off x="1116366" y="1245951"/>
            <a:ext cx="21088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>
                <a:solidFill>
                  <a:srgbClr val="FF0000"/>
                </a:solidFill>
              </a:rPr>
              <a:t>CONTROLLER</a:t>
            </a:r>
          </a:p>
        </p:txBody>
      </p:sp>
      <p:cxnSp>
        <p:nvCxnSpPr>
          <p:cNvPr id="65" name="Conector de Seta Reta 64">
            <a:extLst>
              <a:ext uri="{FF2B5EF4-FFF2-40B4-BE49-F238E27FC236}">
                <a16:creationId xmlns:a16="http://schemas.microsoft.com/office/drawing/2014/main" id="{24B724A0-867E-4818-C1F6-DA6D991A7840}"/>
              </a:ext>
            </a:extLst>
          </p:cNvPr>
          <p:cNvCxnSpPr>
            <a:cxnSpLocks/>
          </p:cNvCxnSpPr>
          <p:nvPr/>
        </p:nvCxnSpPr>
        <p:spPr>
          <a:xfrm>
            <a:off x="2665459" y="3626698"/>
            <a:ext cx="296185" cy="1430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aixaDeTexto 1">
            <a:extLst>
              <a:ext uri="{FF2B5EF4-FFF2-40B4-BE49-F238E27FC236}">
                <a16:creationId xmlns:a16="http://schemas.microsoft.com/office/drawing/2014/main" id="{CE5601C1-D64B-E61A-8B6F-8F38FF2B0E04}"/>
              </a:ext>
            </a:extLst>
          </p:cNvPr>
          <p:cNvSpPr txBox="1"/>
          <p:nvPr/>
        </p:nvSpPr>
        <p:spPr>
          <a:xfrm>
            <a:off x="5035170" y="1415176"/>
            <a:ext cx="7028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/>
              <a:t>WHY IS IT NECESSARY TO BOOST A SINGAL FROM 180V DC TO 310V DC?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4FCB098B-F521-E5E0-8753-07A4801A4410}"/>
                  </a:ext>
                </a:extLst>
              </p:cNvPr>
              <p:cNvSpPr txBox="1"/>
              <p:nvPr/>
            </p:nvSpPr>
            <p:spPr>
              <a:xfrm>
                <a:off x="7489971" y="2862761"/>
                <a:ext cx="1549720" cy="39632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dirty="0"/>
                  <a:t>VDC = 220*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endParaRPr lang="pt-BR" dirty="0"/>
              </a:p>
            </p:txBody>
          </p:sp>
        </mc:Choice>
        <mc:Fallback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4FCB098B-F521-E5E0-8753-07A4801A44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9971" y="2862761"/>
                <a:ext cx="1549720" cy="396327"/>
              </a:xfrm>
              <a:prstGeom prst="rect">
                <a:avLst/>
              </a:prstGeom>
              <a:blipFill>
                <a:blip r:embed="rId2"/>
                <a:stretch>
                  <a:fillRect l="-3543" t="-1538" b="-2461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aixaDeTexto 3">
            <a:extLst>
              <a:ext uri="{FF2B5EF4-FFF2-40B4-BE49-F238E27FC236}">
                <a16:creationId xmlns:a16="http://schemas.microsoft.com/office/drawing/2014/main" id="{DF50B550-1DCD-9C1F-F260-C4EC49E11EBD}"/>
              </a:ext>
            </a:extLst>
          </p:cNvPr>
          <p:cNvSpPr txBox="1"/>
          <p:nvPr/>
        </p:nvSpPr>
        <p:spPr>
          <a:xfrm>
            <a:off x="6096000" y="2110832"/>
            <a:ext cx="44883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Electric Motor Requires 220V AC RMS to </a:t>
            </a:r>
            <a:r>
              <a:rPr lang="pt-BR" dirty="0" err="1"/>
              <a:t>Run</a:t>
            </a:r>
            <a:endParaRPr lang="pt-BR" dirty="0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36776FF1-4E36-0299-5D7E-F71C294627D3}"/>
              </a:ext>
            </a:extLst>
          </p:cNvPr>
          <p:cNvSpPr txBox="1"/>
          <p:nvPr/>
        </p:nvSpPr>
        <p:spPr>
          <a:xfrm>
            <a:off x="7559993" y="3202586"/>
            <a:ext cx="16305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VDC = 311.12 V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E74F8007-0F24-50EA-275F-F4DF25381D88}"/>
              </a:ext>
            </a:extLst>
          </p:cNvPr>
          <p:cNvSpPr txBox="1"/>
          <p:nvPr/>
        </p:nvSpPr>
        <p:spPr>
          <a:xfrm>
            <a:off x="7648158" y="3528862"/>
            <a:ext cx="14542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VDC =~ 310 V</a:t>
            </a:r>
          </a:p>
        </p:txBody>
      </p:sp>
      <p:pic>
        <p:nvPicPr>
          <p:cNvPr id="31" name="Imagem 30">
            <a:extLst>
              <a:ext uri="{FF2B5EF4-FFF2-40B4-BE49-F238E27FC236}">
                <a16:creationId xmlns:a16="http://schemas.microsoft.com/office/drawing/2014/main" id="{1721070B-75ED-76C0-DC2D-CCE9B4C620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5162" y="4428356"/>
            <a:ext cx="4757428" cy="2011026"/>
          </a:xfrm>
          <a:prstGeom prst="rect">
            <a:avLst/>
          </a:prstGeom>
        </p:spPr>
      </p:pic>
      <p:sp>
        <p:nvSpPr>
          <p:cNvPr id="32" name="CaixaDeTexto 31">
            <a:extLst>
              <a:ext uri="{FF2B5EF4-FFF2-40B4-BE49-F238E27FC236}">
                <a16:creationId xmlns:a16="http://schemas.microsoft.com/office/drawing/2014/main" id="{1A4216EE-C4AA-35B2-D7F9-B3580DBA3DCB}"/>
              </a:ext>
            </a:extLst>
          </p:cNvPr>
          <p:cNvSpPr txBox="1"/>
          <p:nvPr/>
        </p:nvSpPr>
        <p:spPr>
          <a:xfrm>
            <a:off x="3395389" y="5315951"/>
            <a:ext cx="116977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solidFill>
                  <a:srgbClr val="FF0000"/>
                </a:solidFill>
              </a:rPr>
              <a:t>180VC</a:t>
            </a:r>
          </a:p>
        </p:txBody>
      </p:sp>
      <p:cxnSp>
        <p:nvCxnSpPr>
          <p:cNvPr id="33" name="Conector de Seta Reta 32">
            <a:extLst>
              <a:ext uri="{FF2B5EF4-FFF2-40B4-BE49-F238E27FC236}">
                <a16:creationId xmlns:a16="http://schemas.microsoft.com/office/drawing/2014/main" id="{6E78627B-2984-6D73-1DFF-35568DF0D67D}"/>
              </a:ext>
            </a:extLst>
          </p:cNvPr>
          <p:cNvCxnSpPr>
            <a:cxnSpLocks/>
            <a:endCxn id="32" idx="3"/>
          </p:cNvCxnSpPr>
          <p:nvPr/>
        </p:nvCxnSpPr>
        <p:spPr>
          <a:xfrm>
            <a:off x="4173747" y="5513648"/>
            <a:ext cx="391415" cy="235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6E74559D-9629-C831-9EB3-CF93402A8FA2}"/>
              </a:ext>
            </a:extLst>
          </p:cNvPr>
          <p:cNvSpPr txBox="1"/>
          <p:nvPr/>
        </p:nvSpPr>
        <p:spPr>
          <a:xfrm>
            <a:off x="9457189" y="5286832"/>
            <a:ext cx="116977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solidFill>
                  <a:srgbClr val="FF0000"/>
                </a:solidFill>
              </a:rPr>
              <a:t>310VC</a:t>
            </a:r>
          </a:p>
        </p:txBody>
      </p:sp>
      <p:cxnSp>
        <p:nvCxnSpPr>
          <p:cNvPr id="35" name="Conector de Seta Reta 34">
            <a:extLst>
              <a:ext uri="{FF2B5EF4-FFF2-40B4-BE49-F238E27FC236}">
                <a16:creationId xmlns:a16="http://schemas.microsoft.com/office/drawing/2014/main" id="{FD48DD1F-0209-D689-E5A3-0B8069F771AA}"/>
              </a:ext>
            </a:extLst>
          </p:cNvPr>
          <p:cNvCxnSpPr>
            <a:cxnSpLocks/>
          </p:cNvCxnSpPr>
          <p:nvPr/>
        </p:nvCxnSpPr>
        <p:spPr>
          <a:xfrm>
            <a:off x="9193290" y="5486887"/>
            <a:ext cx="296185" cy="1430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tângulo 35">
            <a:extLst>
              <a:ext uri="{FF2B5EF4-FFF2-40B4-BE49-F238E27FC236}">
                <a16:creationId xmlns:a16="http://schemas.microsoft.com/office/drawing/2014/main" id="{9D1CC362-D417-E61F-83FB-5BC093AC83EE}"/>
              </a:ext>
            </a:extLst>
          </p:cNvPr>
          <p:cNvSpPr/>
          <p:nvPr/>
        </p:nvSpPr>
        <p:spPr>
          <a:xfrm>
            <a:off x="3427675" y="4579267"/>
            <a:ext cx="6899048" cy="1962775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2CAE5485-AF03-5FA7-C133-EA106A844A7F}"/>
              </a:ext>
            </a:extLst>
          </p:cNvPr>
          <p:cNvSpPr txBox="1"/>
          <p:nvPr/>
        </p:nvSpPr>
        <p:spPr>
          <a:xfrm>
            <a:off x="5901341" y="4271023"/>
            <a:ext cx="17498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rgbClr val="FF0000"/>
                </a:solidFill>
              </a:rPr>
              <a:t>BOOST CONVERTER</a:t>
            </a:r>
          </a:p>
        </p:txBody>
      </p:sp>
      <p:sp>
        <p:nvSpPr>
          <p:cNvPr id="38" name="Retângulo 37">
            <a:extLst>
              <a:ext uri="{FF2B5EF4-FFF2-40B4-BE49-F238E27FC236}">
                <a16:creationId xmlns:a16="http://schemas.microsoft.com/office/drawing/2014/main" id="{A97EB8F1-F97A-BB0A-3722-0DFC398A32D3}"/>
              </a:ext>
            </a:extLst>
          </p:cNvPr>
          <p:cNvSpPr/>
          <p:nvPr/>
        </p:nvSpPr>
        <p:spPr>
          <a:xfrm>
            <a:off x="7648158" y="3571918"/>
            <a:ext cx="1542410" cy="27847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749273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1C7DED-F014-B0CB-4DE7-C37179923E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m 11">
            <a:extLst>
              <a:ext uri="{FF2B5EF4-FFF2-40B4-BE49-F238E27FC236}">
                <a16:creationId xmlns:a16="http://schemas.microsoft.com/office/drawing/2014/main" id="{54FDC6DC-03B8-E082-CC69-95079C6739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2958" y="4422637"/>
            <a:ext cx="2972009" cy="2310678"/>
          </a:xfrm>
          <a:prstGeom prst="rect">
            <a:avLst/>
          </a:prstGeom>
        </p:spPr>
      </p:pic>
      <p:pic>
        <p:nvPicPr>
          <p:cNvPr id="74" name="Imagem 73">
            <a:extLst>
              <a:ext uri="{FF2B5EF4-FFF2-40B4-BE49-F238E27FC236}">
                <a16:creationId xmlns:a16="http://schemas.microsoft.com/office/drawing/2014/main" id="{19D13FC1-0268-7022-FC61-1CB3F37507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9560" y="1883517"/>
            <a:ext cx="1501337" cy="1067617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F08D3C55-34C1-D51F-C9D1-94F914EA0320}"/>
              </a:ext>
            </a:extLst>
          </p:cNvPr>
          <p:cNvSpPr txBox="1"/>
          <p:nvPr/>
        </p:nvSpPr>
        <p:spPr>
          <a:xfrm>
            <a:off x="4209569" y="650787"/>
            <a:ext cx="3529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dirty="0"/>
              <a:t>Design Concept - Overview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440F92D3-6779-BB07-F6B5-2CCD0946195D}"/>
              </a:ext>
            </a:extLst>
          </p:cNvPr>
          <p:cNvSpPr txBox="1"/>
          <p:nvPr/>
        </p:nvSpPr>
        <p:spPr>
          <a:xfrm>
            <a:off x="4370077" y="85206"/>
            <a:ext cx="281506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/>
              <a:t>William Santos/Rosana Mendes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7F3D9935-73DB-7204-436C-49FC3E242955}"/>
              </a:ext>
            </a:extLst>
          </p:cNvPr>
          <p:cNvSpPr/>
          <p:nvPr/>
        </p:nvSpPr>
        <p:spPr>
          <a:xfrm>
            <a:off x="420527" y="1762536"/>
            <a:ext cx="2586681" cy="16887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3" name="Conector de Seta Reta 12">
            <a:extLst>
              <a:ext uri="{FF2B5EF4-FFF2-40B4-BE49-F238E27FC236}">
                <a16:creationId xmlns:a16="http://schemas.microsoft.com/office/drawing/2014/main" id="{79614DBD-6985-D3B4-CE00-597D3BB2BD61}"/>
              </a:ext>
            </a:extLst>
          </p:cNvPr>
          <p:cNvCxnSpPr>
            <a:cxnSpLocks/>
          </p:cNvCxnSpPr>
          <p:nvPr/>
        </p:nvCxnSpPr>
        <p:spPr>
          <a:xfrm>
            <a:off x="19738" y="2606915"/>
            <a:ext cx="393356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>
            <a:extLst>
              <a:ext uri="{FF2B5EF4-FFF2-40B4-BE49-F238E27FC236}">
                <a16:creationId xmlns:a16="http://schemas.microsoft.com/office/drawing/2014/main" id="{C7FBA689-D70E-EDC3-DA27-73BDD506C9EE}"/>
              </a:ext>
            </a:extLst>
          </p:cNvPr>
          <p:cNvCxnSpPr>
            <a:cxnSpLocks/>
          </p:cNvCxnSpPr>
          <p:nvPr/>
        </p:nvCxnSpPr>
        <p:spPr>
          <a:xfrm flipV="1">
            <a:off x="2974211" y="2595212"/>
            <a:ext cx="400260" cy="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79213543-57C3-DC2A-5746-8BCF629402D7}"/>
              </a:ext>
            </a:extLst>
          </p:cNvPr>
          <p:cNvSpPr txBox="1"/>
          <p:nvPr/>
        </p:nvSpPr>
        <p:spPr>
          <a:xfrm>
            <a:off x="1162405" y="2226564"/>
            <a:ext cx="11526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>
                <a:solidFill>
                  <a:srgbClr val="FF0000"/>
                </a:solidFill>
              </a:rPr>
              <a:t>DC/AC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0294EA17-D8D5-1C16-2225-594008AA536B}"/>
              </a:ext>
            </a:extLst>
          </p:cNvPr>
          <p:cNvSpPr txBox="1"/>
          <p:nvPr/>
        </p:nvSpPr>
        <p:spPr>
          <a:xfrm>
            <a:off x="941382" y="1300871"/>
            <a:ext cx="15464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>
                <a:solidFill>
                  <a:srgbClr val="FF0000"/>
                </a:solidFill>
              </a:rPr>
              <a:t>INVERTER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0BAF00AB-5C3E-7F8D-FE0F-A093C245370B}"/>
              </a:ext>
            </a:extLst>
          </p:cNvPr>
          <p:cNvSpPr txBox="1"/>
          <p:nvPr/>
        </p:nvSpPr>
        <p:spPr>
          <a:xfrm>
            <a:off x="3369727" y="3074365"/>
            <a:ext cx="138100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>
                <a:solidFill>
                  <a:srgbClr val="FF0000"/>
                </a:solidFill>
              </a:rPr>
              <a:t>Electric Motor</a:t>
            </a:r>
          </a:p>
          <a:p>
            <a:r>
              <a:rPr lang="pt-BR" sz="2400" b="1" dirty="0">
                <a:solidFill>
                  <a:srgbClr val="FF0000"/>
                </a:solidFill>
              </a:rPr>
              <a:t>AC 220V 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CA00E9AA-396F-8FBF-8EE6-D8697CFD26A2}"/>
              </a:ext>
            </a:extLst>
          </p:cNvPr>
          <p:cNvSpPr txBox="1"/>
          <p:nvPr/>
        </p:nvSpPr>
        <p:spPr>
          <a:xfrm>
            <a:off x="3362783" y="1423982"/>
            <a:ext cx="21294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b="1" dirty="0">
                <a:solidFill>
                  <a:srgbClr val="FF0000"/>
                </a:solidFill>
              </a:rPr>
              <a:t>Three-Phase</a:t>
            </a:r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64FA1EB2-8EC9-1395-D3B4-B24AD2CC32CB}"/>
              </a:ext>
            </a:extLst>
          </p:cNvPr>
          <p:cNvSpPr txBox="1"/>
          <p:nvPr/>
        </p:nvSpPr>
        <p:spPr>
          <a:xfrm>
            <a:off x="606532" y="2769133"/>
            <a:ext cx="24867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>
                <a:solidFill>
                  <a:srgbClr val="FF0000"/>
                </a:solidFill>
              </a:rPr>
              <a:t>310VC       220AC</a:t>
            </a:r>
          </a:p>
        </p:txBody>
      </p:sp>
      <p:cxnSp>
        <p:nvCxnSpPr>
          <p:cNvPr id="72" name="Conector de Seta Reta 71">
            <a:extLst>
              <a:ext uri="{FF2B5EF4-FFF2-40B4-BE49-F238E27FC236}">
                <a16:creationId xmlns:a16="http://schemas.microsoft.com/office/drawing/2014/main" id="{6673000E-3214-B28E-A5DF-1CB7FB8C7D17}"/>
              </a:ext>
            </a:extLst>
          </p:cNvPr>
          <p:cNvCxnSpPr>
            <a:cxnSpLocks/>
          </p:cNvCxnSpPr>
          <p:nvPr/>
        </p:nvCxnSpPr>
        <p:spPr>
          <a:xfrm>
            <a:off x="1555900" y="2999965"/>
            <a:ext cx="393355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Imagem 2">
            <a:extLst>
              <a:ext uri="{FF2B5EF4-FFF2-40B4-BE49-F238E27FC236}">
                <a16:creationId xmlns:a16="http://schemas.microsoft.com/office/drawing/2014/main" id="{A315276B-BABA-FD3B-091F-6FA190CE05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85853" y="1689331"/>
            <a:ext cx="6166220" cy="2698789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28BBBA6E-5ECA-3FEE-3AC5-D2B13748E24A}"/>
              </a:ext>
            </a:extLst>
          </p:cNvPr>
          <p:cNvSpPr txBox="1"/>
          <p:nvPr/>
        </p:nvSpPr>
        <p:spPr>
          <a:xfrm>
            <a:off x="7475874" y="1193149"/>
            <a:ext cx="30413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>
                <a:solidFill>
                  <a:srgbClr val="FF0000"/>
                </a:solidFill>
              </a:rPr>
              <a:t>Three Phase Inverter</a:t>
            </a:r>
          </a:p>
        </p:txBody>
      </p:sp>
      <p:cxnSp>
        <p:nvCxnSpPr>
          <p:cNvPr id="39" name="Conector de Seta Reta 38">
            <a:extLst>
              <a:ext uri="{FF2B5EF4-FFF2-40B4-BE49-F238E27FC236}">
                <a16:creationId xmlns:a16="http://schemas.microsoft.com/office/drawing/2014/main" id="{D0AEDBE2-E085-65A9-6351-609797FA2DC5}"/>
              </a:ext>
            </a:extLst>
          </p:cNvPr>
          <p:cNvCxnSpPr/>
          <p:nvPr/>
        </p:nvCxnSpPr>
        <p:spPr>
          <a:xfrm>
            <a:off x="8996572" y="4274694"/>
            <a:ext cx="1078304" cy="0"/>
          </a:xfrm>
          <a:prstGeom prst="straightConnector1">
            <a:avLst/>
          </a:prstGeom>
          <a:ln w="381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ector de Seta Reta 39">
            <a:extLst>
              <a:ext uri="{FF2B5EF4-FFF2-40B4-BE49-F238E27FC236}">
                <a16:creationId xmlns:a16="http://schemas.microsoft.com/office/drawing/2014/main" id="{888CF994-DAD3-2558-EAF5-8D634546740E}"/>
              </a:ext>
            </a:extLst>
          </p:cNvPr>
          <p:cNvCxnSpPr/>
          <p:nvPr/>
        </p:nvCxnSpPr>
        <p:spPr>
          <a:xfrm>
            <a:off x="10335221" y="4286307"/>
            <a:ext cx="1078304" cy="0"/>
          </a:xfrm>
          <a:prstGeom prst="straightConnector1">
            <a:avLst/>
          </a:prstGeom>
          <a:ln w="381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AB0D2DA7-C0EA-3D8D-501D-E411EBB936E7}"/>
              </a:ext>
            </a:extLst>
          </p:cNvPr>
          <p:cNvSpPr txBox="1"/>
          <p:nvPr/>
        </p:nvSpPr>
        <p:spPr>
          <a:xfrm>
            <a:off x="9073588" y="4309212"/>
            <a:ext cx="9242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>
                <a:solidFill>
                  <a:srgbClr val="FF0000"/>
                </a:solidFill>
              </a:rPr>
              <a:t>220V </a:t>
            </a:r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3974918E-46A0-6F6F-3783-51F9B5E36848}"/>
              </a:ext>
            </a:extLst>
          </p:cNvPr>
          <p:cNvSpPr txBox="1"/>
          <p:nvPr/>
        </p:nvSpPr>
        <p:spPr>
          <a:xfrm>
            <a:off x="10489253" y="4309212"/>
            <a:ext cx="9242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>
                <a:solidFill>
                  <a:srgbClr val="FF0000"/>
                </a:solidFill>
              </a:rPr>
              <a:t>220V </a:t>
            </a:r>
          </a:p>
        </p:txBody>
      </p:sp>
    </p:spTree>
    <p:extLst>
      <p:ext uri="{BB962C8B-B14F-4D97-AF65-F5344CB8AC3E}">
        <p14:creationId xmlns:p14="http://schemas.microsoft.com/office/powerpoint/2010/main" val="192922324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378</TotalTime>
  <Words>193</Words>
  <Application>Microsoft Office PowerPoint</Application>
  <PresentationFormat>Widescreen</PresentationFormat>
  <Paragraphs>62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Cambria Math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William Souza</dc:creator>
  <cp:lastModifiedBy>William Souza</cp:lastModifiedBy>
  <cp:revision>14</cp:revision>
  <dcterms:created xsi:type="dcterms:W3CDTF">2026-03-29T16:27:35Z</dcterms:created>
  <dcterms:modified xsi:type="dcterms:W3CDTF">2026-03-29T22:45:52Z</dcterms:modified>
</cp:coreProperties>
</file>